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6576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数洋智慧综合管理平台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DATAOCEAN ENTERPRISE MANAGEMENT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972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系统使用手册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 2025 · 按角色说明操作流程与智能功能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DataOcean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66928" cy="7132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1521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系统概述与登录说明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83664"/>
            <a:ext cx="566928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83664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0299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— 工时填报与假期申请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61488"/>
            <a:ext cx="566928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61488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907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 — 工时审批与项目成本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39312"/>
            <a:ext cx="566928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39312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78561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战区总监 — 总览、审批与商机管理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17136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517136"/>
            <a:ext cx="566928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517136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663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事业部总经理 — 项目总览与部门监控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1005840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005840"/>
            <a:ext cx="566928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00584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67728" y="11521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 — 成本监控与全员效能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883664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1883664"/>
            <a:ext cx="566928" cy="71323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883664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67728" y="20299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 — 费用录入与费率查询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2761488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2761488"/>
            <a:ext cx="566928" cy="7132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761488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67728" y="2907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 — 工时与假期管理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3639312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15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3639312"/>
            <a:ext cx="566928" cy="713232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639312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67728" y="378561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智能助手专题说明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 · 数洋智慧综合管理平台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面向数洋科技全员的一体化工时与费用管理平台，覆盖工时填报、多级审批、费用管控、商机跟踪、人员预排期等核心业务场景。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83664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83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791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工时填报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假期申请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10512" y="178308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9424" y="188366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249424" y="1883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3774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26791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工时审批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55264" y="178308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1883664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94176" y="1883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55264" y="23774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55264" y="26791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商机管理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0016" y="178308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8928" y="1883664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5138928" y="1883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0016" y="23774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事业部GM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0016" y="26791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部门监控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44768" y="178308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1883664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883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44768" y="23774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26791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成本总表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效能预警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178308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DB2777">
              <a:alpha val="12000"/>
            </a:srgbClr>
          </a:solidFill>
          <a:ln w="12700">
            <a:solidFill>
              <a:srgbClr val="DB2777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28432" y="1883664"/>
            <a:ext cx="411480" cy="41148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33" name="Text 31"/>
          <p:cNvSpPr/>
          <p:nvPr/>
        </p:nvSpPr>
        <p:spPr>
          <a:xfrm>
            <a:off x="8028432" y="1883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0" y="23774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26791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费用录入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费率查询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034272" y="178308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73184" y="1883664"/>
            <a:ext cx="411480" cy="4114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8" name="Text 36"/>
          <p:cNvSpPr/>
          <p:nvPr/>
        </p:nvSpPr>
        <p:spPr>
          <a:xfrm>
            <a:off x="9473184" y="1883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34272" y="23774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034272" y="26791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假期审批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配额管理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479024" y="178308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1E3A5F">
              <a:alpha val="12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17936" y="1883664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10917936" y="1883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479024" y="23774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479024" y="26791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系统配置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3337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65760" y="3749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 工时以"天"为单位，每工作日必须合计1天才能提交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65760" y="42062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多级审批流程（PM → 总监 → 自动）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65760" y="46634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 内置 AI 智能助手，支持自然语言查数据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035040" y="3749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 项目预算实时监控与超支预警（超80%标黄/超100%标红）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035040" y="42062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 全面支持手机端，底部导航、自适应布局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登录系统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120640" cy="3474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数洋智慧综合管理平台 — 登录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591056"/>
            <a:ext cx="49011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数洋智慧综合管理平台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512064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965960"/>
            <a:ext cx="49011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340864"/>
            <a:ext cx="49011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账号 / 工号:  [_______________________]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512064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715768"/>
            <a:ext cx="49011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密      码:  [_______________________]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090672"/>
            <a:ext cx="49011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512064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465576"/>
            <a:ext cx="49011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[ 🔐  登  录 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840480"/>
            <a:ext cx="49011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512064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215384"/>
            <a:ext cx="49011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⚠ 首次登录请修改初始密码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登录说明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691640"/>
            <a:ext cx="557784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74650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账号格式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24928" y="17465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工号 或 姓名均可登录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350008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24048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首次登录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24928" y="2404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系统强制要求修改初始密码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008376"/>
            <a:ext cx="557784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忘记密码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24928" y="3063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联系系统管理员 (admin1) 重置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666744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37216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修改密码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24928" y="3721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登录后点击右上角"修改密码"按钮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4325112"/>
            <a:ext cx="557784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43799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手机访问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24928" y="43799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支持手机浏览器，界面自动适配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01168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2011680"/>
            <a:ext cx="137160" cy="2560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工时填报 · 假期申请 · 查看个人记录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5943600" cy="3657600"/>
          </a:xfrm>
          <a:prstGeom prst="rect">
            <a:avLst/>
          </a:prstGeom>
          <a:solidFill>
            <a:srgbClr val="16A34A">
              <a:alpha val="8000"/>
            </a:srgbClr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28600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按周填报工时（项目/培训/假期）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每工作日工时总计必须 = 1天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实时查看工时审批状态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提交年假和其他假期申请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· 工时填报操作步骤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点击左侧菜单 "我的工时"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11680"/>
            <a:ext cx="73152" cy="27432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2860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3042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选择需要填报的工作周（下拉周选择器）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2697480"/>
            <a:ext cx="73152" cy="27432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9718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9900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 "+ 添加" 选择项目 / 培训 / 假期类型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383280"/>
            <a:ext cx="73152" cy="27432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6576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6758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在每个工作日格子中填入工时数（如 0.5、1）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4069080"/>
            <a:ext cx="73152" cy="27432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43434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3616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确认每日合计 = 1 天后，点击 "提交" 按钮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" y="4754880"/>
            <a:ext cx="73152" cy="27432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50292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0474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等待项目经理审批，可在记录中查看状态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52160" y="114300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1143000"/>
            <a:ext cx="576072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11887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我的工时 — 填报界面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61888" y="154533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工作周: [2025-W16 ▼]  2025-04-14 ~ 04-18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186537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5961888" y="192024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61888" y="229514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类型    周一   周二   周三   周四   周五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52160" y="2615184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5961888" y="267004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项目A   1.0    1.0    1.0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61888" y="304495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年假                          1.0    1.0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52160" y="3364992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5961888" y="341985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61888" y="379476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每日:   ✅1.0  ✅1.0  ✅1.0  ✅1.0  ✅1.0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52160" y="4114800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1"/>
          <p:cNvSpPr/>
          <p:nvPr/>
        </p:nvSpPr>
        <p:spPr>
          <a:xfrm>
            <a:off x="5961888" y="416966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61888" y="454456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[+ 添加工时行]        [ ✈ 提 交 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· 工时类型说明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0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00" cy="164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23444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项目工时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591056"/>
            <a:ext cx="5266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分配至具体项目的正常工时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审批方式：由项目经理审批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88720"/>
            <a:ext cx="548640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371600"/>
            <a:ext cx="548640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123444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培  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7648" y="1591056"/>
            <a:ext cx="5266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参加公司内外部培训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审批方式：⚡ 自动审批通过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548640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08960"/>
            <a:ext cx="5486400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97180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🌴 年  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28416"/>
            <a:ext cx="5266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使用年假配额休假（需有剩余）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审批方式：由部门经理审批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9260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926080"/>
            <a:ext cx="5486400" cy="347472"/>
          </a:xfrm>
          <a:prstGeom prst="roundRect">
            <a:avLst>
              <a:gd name="adj" fmla="val 2105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108960"/>
            <a:ext cx="5486400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297180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其他假期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3328416"/>
            <a:ext cx="5266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病假、事假、调休等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审批方式：由部门经理审批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663440"/>
            <a:ext cx="548640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470916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管理工时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5065776"/>
            <a:ext cx="5266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内部管理事务（需管理员授权）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审批方式：⚡ 授权后自动通过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6634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4663440"/>
            <a:ext cx="5486400" cy="347472"/>
          </a:xfrm>
          <a:prstGeom prst="roundRect">
            <a:avLst>
              <a:gd name="adj" fmla="val 2105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846320"/>
            <a:ext cx="5486400" cy="16459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3" name="Text 31"/>
          <p:cNvSpPr/>
          <p:nvPr/>
        </p:nvSpPr>
        <p:spPr>
          <a:xfrm>
            <a:off x="6327648" y="470916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🎉 公众假期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27648" y="5065776"/>
            <a:ext cx="5266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国家法定节假日（系统标注）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审批方式：⚡ 自动处理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· 假期申请与状态查询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在"我的工时"选择目标日期所在周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3152" cy="27432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24028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点击"+ 添加"，选择：年假 或 其他假期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651760"/>
            <a:ext cx="73152" cy="27432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填入每个休假日的工时（全天=1，半天=0.5）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3337560"/>
            <a:ext cx="73152" cy="27432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61188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630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提交后，系统自动发送给部门经理审批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工时状态含义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1600200"/>
            <a:ext cx="5760720" cy="82296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6733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待审批 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2011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已提交，等待审批人处理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560320"/>
            <a:ext cx="576072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63347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已批准 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29718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审批通过，工时正式生效计入统计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3520440"/>
            <a:ext cx="576072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5935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已驳回 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3931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被退回，可查看原因后修改重新提交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01168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2011680"/>
            <a:ext cx="137160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工时审批 · 项目成本监控 · 人员投入分析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5943600" cy="3657600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28600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审批项目成员提交的工时记录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查看项目累计成本与预算消耗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管理项目人员投入明细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填报自己的工时（同员工功能）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 · 工时审批操作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点击左侧菜单 "工时审批"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3152" cy="2743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2402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在"待审批"列表查看员工提交的工时记录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651760"/>
            <a:ext cx="73152" cy="2743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检查填报内容（日期、项目、天数、说明）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3337560"/>
            <a:ext cx="73152" cy="2743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611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630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 "✓ 批准" 通过，或 "✗ 驳回" 并填写原因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" y="4023360"/>
            <a:ext cx="73152" cy="2743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2976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3159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在"审批历史"可查看所有已处理的记录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114300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1143000"/>
            <a:ext cx="57607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1887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工时审批 — 待审批列表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61888" y="154533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姓名    项目      日期       天数   操作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186537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5961888" y="192024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61888" y="229514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张三   项目A   2025-04-14   1.0   [✓批准][✗驳回]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52160" y="2615184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961888" y="267004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李四   项目A   2025-04-14   1.0   [✓批准][✗驳回]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61888" y="304495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王五   项目A   2025-04-15   0.5   [✓批准][✗驳回]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3364992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5961888" y="341985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61888" y="379476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共 3 条待审批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 · 项目成本查看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在"项目成本"页面，实时监控所负责项目的预算消耗情况，超80%标黄预警，超100%标红警告。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1247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112471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项目成本 — 成本总览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09397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项目名称     类型   年度预算    工时成本    费用     合计    使用率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46888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843784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项目A-交付   交付   500,000   280,000   15,000  295,000   59% 🟢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3218688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项目B-交付   交付   200,000   155,000    8,000  163,000   82% 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593592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项目C-售前   售前   100,000    92,000        0   92,000   92% 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96849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434340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点击项目名称 → 查看参与人员投入明细（姓名/工时/成本/占比）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01168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2011680"/>
            <a:ext cx="137160" cy="2560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战区总监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战区总览 · 项目成本 · 商机管理 · 人员预排期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5943600" cy="365760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9456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查看战区内所有项目预算与成本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审批战区全部类型的工时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创建与跟踪商机（SPIN模型）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管理人员项目安排与预定视图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智能问数：自然语言查询战区数据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战区总监 · 战区总览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247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124712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战区总览 — 各部门工时与成本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部门          员工数  累计工时(天)  工时成本(元)    费用(元)    合计已用    预算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2024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295144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华南交付部      12       580        290,000       25,000    315,000    500,000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670048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华南售前部       8       320        192,000            0    192,000    300,000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华南研发部       6       210        168,000        8,000    176,000    250,000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41985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79476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战区合计        26     1,110        650,000       33,000    683,000  1,050,000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战区总监 · 项目总览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点击项目名称可下钻查看所有参与人员的工时与成本明细。右上角"周历对照表"可查看W16等对应的具体日期。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84124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项目总览 — 项目列表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048256"/>
            <a:ext cx="819302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编号    项目名称   类型  年度预算  工时成本  合计已用  使用率  预定成本(下周起)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841248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423160"/>
            <a:ext cx="819302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798064"/>
            <a:ext cx="819302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A-001  项目A     交付  500,000  280,000  295,000   59%🟢   ¥ 85,000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118104"/>
            <a:ext cx="841248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3172968"/>
            <a:ext cx="819302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A-002  项目B     售前  200,000  163,000  163,000   82%🟡   ¥ 32,000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547872"/>
            <a:ext cx="819302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A-003  项目C     研发  150,000  142,000  142,000   95%🔴   ¥ 18,000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867912"/>
            <a:ext cx="841248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922776"/>
            <a:ext cx="819302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4297680"/>
            <a:ext cx="819302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[🗓 周历对照表]    搜索: [__________]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164592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🗓 周历对照表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286000"/>
            <a:ext cx="2468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2025-04-14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04-18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2025-04-21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04-25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2025-04-28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05-02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战区总监 · 商机管理（SPIN模型）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508760" cy="54864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118872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了解现状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55448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1984248" y="1188720"/>
            <a:ext cx="1508760" cy="548640"/>
          </a:xfrm>
          <a:prstGeom prst="rect">
            <a:avLst/>
          </a:prstGeom>
          <a:solidFill>
            <a:srgbClr val="7C3AED">
              <a:alpha val="4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020824" y="118872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发现问题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93008" y="1371600"/>
            <a:ext cx="155448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3648456" y="1188720"/>
            <a:ext cx="1508760" cy="548640"/>
          </a:xfrm>
          <a:prstGeom prst="rect">
            <a:avLst/>
          </a:prstGeom>
          <a:solidFill>
            <a:srgbClr val="7C3AED">
              <a:alpha val="3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118872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扩大影响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57216" y="1371600"/>
            <a:ext cx="155448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5312664" y="1188720"/>
            <a:ext cx="1508760" cy="548640"/>
          </a:xfrm>
          <a:prstGeom prst="rect">
            <a:avLst/>
          </a:prstGeom>
          <a:solidFill>
            <a:srgbClr val="7C3AED">
              <a:alpha val="3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18872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明确需求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21424" y="1371600"/>
            <a:ext cx="155448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6976872" y="1188720"/>
            <a:ext cx="1508760" cy="548640"/>
          </a:xfrm>
          <a:prstGeom prst="rect">
            <a:avLst/>
          </a:prstGeom>
          <a:solidFill>
            <a:srgbClr val="7C3AED">
              <a:alpha val="2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13448" y="118872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提交方案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85632" y="1371600"/>
            <a:ext cx="155448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41080" y="1188720"/>
            <a:ext cx="1508760" cy="54864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677656" y="118872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商务谈判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149840" y="1371600"/>
            <a:ext cx="155448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05288" y="1188720"/>
            <a:ext cx="1508760" cy="54864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341864" y="1188720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成功签约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0116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20299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点击"商机管理"→"新建商机"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0352" y="242316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26974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27157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填写商机名称、客户、预估金额、成功率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0352" y="310896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33832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3401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选择当前所处 SPIN 阶段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0352" y="379476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" y="40690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" y="4087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定期在"商机周报"填写本周进展更新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0352" y="448056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" y="47548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" y="4773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 可实时查看所有商机动态与签约预测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852160" y="2011680"/>
            <a:ext cx="5760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852160" y="2011680"/>
            <a:ext cx="576072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0" y="20574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商机管理 — 商机列表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61888" y="241401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商机名称      阶段      预估金额   成功率   签约月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52160" y="273405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5961888" y="278892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61888" y="316382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某市政务项目   提交方案   800,000    60%    2025-06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52160" y="3483864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5961888" y="353872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某银行升级     明确需求   500,000    40%    2025-07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61888" y="391363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某企业数字化   了解现状   300,000    20%    2025-09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852160" y="4233672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5" name="Text 53"/>
          <p:cNvSpPr/>
          <p:nvPr/>
        </p:nvSpPr>
        <p:spPr>
          <a:xfrm>
            <a:off x="5961888" y="428853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961888" y="466344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[+ 新建商机]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战区总监 · 人员安排与预定视图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进入"人员安排"，选择项目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2402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点击"分配人员"添加员工到项目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65176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点击"+"设置预定周期（起始周~结束周）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333756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6118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630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多项目冲突时，在"天数分配"面板按比例分配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14300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1143000"/>
            <a:ext cx="576072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1887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预定视图 — 甘特图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888" y="154533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W15   W16   W17   W18   W19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186537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961888" y="192024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61888" y="229514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张三/项目A  ████  ████  ████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52160" y="2615184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5961888" y="267004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张三/项目B              ████  ████  ████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61888" y="304495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李四/项目A  ████  ████  ████  ████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0" y="3364992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961888" y="341985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王五/项目B        ████  ████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61888" y="379476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4114800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5961888" y="416966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⚠ 张三 W17 多项目冲突，需分配天数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01168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2011680"/>
            <a:ext cx="137160" cy="2560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事业部总经理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Unit GM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部门总览 · 项目总览 · 人员工时统计 · 人员安排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5943600" cy="3657600"/>
          </a:xfrm>
          <a:prstGeom prst="rect">
            <a:avLst/>
          </a:prstGeom>
          <a:solidFill>
            <a:srgbClr val="EA580C">
              <a:alpha val="8000"/>
            </a:srgbClr>
          </a:solidFill>
          <a:ln w="12700">
            <a:solidFill>
              <a:srgbClr val="EA580C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9456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查看事业部所有部门的成本概况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项目总览：监控所有项目预算消耗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人员工时统计：分析员工效能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审批工时与管理人员排期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数据导出：下载工时汇总报表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事业部总经理 · 部门总览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247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124712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部门总览 — 事业部成本全貌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部门          下属数  员工数  工时成本(元)     费用(元)     总成本    预算使用率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2024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295144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华南事业部      4      45   1,250,000       88,000   1,338,000    72% 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670048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├ 华南交付部    —      18     520,000       35,000     555,000    55% 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├ 华南售前部    —      12     380,000            0     380,000    76% 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41985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└ 华南研发部    —      15     350,000       53,000     403,000    90% 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79476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点击部门名称 → 查看该部门员工工时明细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事业部总经理 · 项目总览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显示事业部管辖范围内所有项目的成本、预算使用率及预定工时成本（下周起）。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11247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1124712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0992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项目总览 — 项目列表（事业部范围）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066544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编号    项目名称      类型   年度预算   工时成本   费用     使用率   预定成本(下周起)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86584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441448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816352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A-001  华南政务项目   交付  800,000   560,000   30,000   74%🟡    ¥ 120,000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136392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319125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A-002  华南银行项目   交付  600,000   280,000   12,000   49%🟢    ¥  85,000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56616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A-003  新客户售前    售前  200,000   185,000        0   93%🔴    ¥  25,000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941064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4315968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[🗓 周历对照表]   合计: 3个项目    ¥ 1,600,000 总预算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事业部总经理 · 人员工时统计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247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124712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人员工时统计 — 员工效能分析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员工姓名  部门         W14   W15   W16   月累计  季度累计  状态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2024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295144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张三     华南交付部    5天    5天    4天    19天     58天   🟢正常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670048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李四     华南交付部    5天    4天    3天    17天     48天   🟡偏低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王五     华南研发部    5天    5天    5天    20天     62天   🟢正常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41985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赵六     华南售前部    3天    2天    2天     9天     28天   🔴异常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79476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点击员工姓名 → 查看个人工时填报明细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01168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2011680"/>
            <a:ext cx="137160" cy="2560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Management Office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成本总表 · 效能预警 · 商机监控 · 智能问数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5943600" cy="3657600"/>
          </a:xfrm>
          <a:prstGeom prst="rect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9456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全公司项目成本总览与分析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员工效能预警（工时异常提醒）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商机动态监控与签约预测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工时驳回与预开工管理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智能问数：AI 全量数据查询助手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 · 成本总表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247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124712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成本总表 — 全公司项目成本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战区/部门     项目数   工时(天)    工时成本         费用       总成本     预算使用率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2024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295144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华南战区        12     3,200    1,600,000       120,000   1,720,000    68% 🟢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670048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华北战区         8     2,100    1,050,000        85,000   1,135,000    82% 🟡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全国合计        20     5,300    2,650,000       205,000   2,855,000    74% 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5537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员工效能预警功能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9834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系统自动识别工时异常员工（连续未填报/工时明显偏低），PMO 可在"员工效能预警"页面查看预警名单并跟进处理。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 · 商机动态与签约预测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5778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57784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商机动态 — 实时监控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53583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商机名称      阶段      负责人   金额(万)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557784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20240"/>
            <a:ext cx="53583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295144"/>
            <a:ext cx="53583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某政务项目A   提交方案   张总监    80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557784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670048"/>
            <a:ext cx="53583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某银行项目B   明确需求   李总监    50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53583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某零售项目C   商务谈判   王总监    35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557784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419856"/>
            <a:ext cx="53583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某制造项目D   成功签约   张总监   120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794760"/>
            <a:ext cx="53583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557784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4169664"/>
            <a:ext cx="535838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本月潜在签约: ¥ 285 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43000"/>
            <a:ext cx="539496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1887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签约预测 — 月度分布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7648" y="1545336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月份     商机数   预估金额    签约概率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865376"/>
            <a:ext cx="539496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1920240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27648" y="2295144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2025-05    3      285万       55%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615184"/>
            <a:ext cx="539496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2670048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2025-06    5      480万       48%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27648" y="3044952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2025-07    4      360万       35%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364992"/>
            <a:ext cx="539496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3419856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2025-08    2      150万       25%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27648" y="3794760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114800"/>
            <a:ext cx="539496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4169664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全年预测总金额: ¥ 1,275 万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01168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2011680"/>
            <a:ext cx="137160" cy="256032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项目费用录入 · 部门费用录入 · 费用历史 · 费率查询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5943600" cy="3657600"/>
          </a:xfrm>
          <a:prstGeom prst="rect">
            <a:avLst/>
          </a:prstGeom>
          <a:solidFill>
            <a:srgbClr val="DB2777">
              <a:alpha val="8000"/>
            </a:srgbClr>
          </a:solidFill>
          <a:ln w="12700">
            <a:solidFill>
              <a:srgbClr val="DB2777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9456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按项目批量录入费用支出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按部门录入市场费用和其他费用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查询历史费用记录（按周/月）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查询员工费率信息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 · 项目费用录入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" cy="41148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点击"项目花费录入"标签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3152" cy="274320"/>
          </a:xfrm>
          <a:prstGeom prst="rect">
            <a:avLst/>
          </a:prstGeom>
          <a:solidFill>
            <a:srgbClr val="DB2777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240280"/>
            <a:ext cx="411480" cy="41148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在表格中选择项目（下拉列表）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651760"/>
            <a:ext cx="73152" cy="274320"/>
          </a:xfrm>
          <a:prstGeom prst="rect">
            <a:avLst/>
          </a:prstGeom>
          <a:solidFill>
            <a:srgbClr val="DB2777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" cy="41148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填写费用金额和描述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3337560"/>
            <a:ext cx="73152" cy="274320"/>
          </a:xfrm>
          <a:prstGeom prst="rect">
            <a:avLst/>
          </a:prstGeom>
          <a:solidFill>
            <a:srgbClr val="DB2777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611880"/>
            <a:ext cx="411480" cy="41148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630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支持批量录入多行，完成后点击"提交"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14300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1143000"/>
            <a:ext cx="5760720" cy="34747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1887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项目费用录入 — 批量录入表格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888" y="154533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项目名称       费用类型    金额(元)    描述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186537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961888" y="192024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61888" y="229514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项目A-交付    差旅费用     12,500    出差上海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52160" y="2615184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5961888" y="267004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项目B-售前    营销费用      8,000    客户招待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61888" y="304495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项目C-研发    硬件采购     25,000    服务器租用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0" y="3364992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961888" y="341985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61888" y="379476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[+ 添加行]              [ ✈ 批量提交 ]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 · 部门费用与费用历史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394960" cy="34747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部门费用录入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部门名称      市场费用(元)   其他费用(元)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539496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20240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295144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华南交付部     15,000          8,000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539496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670048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华南售前部     35,000          5,000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华南研发部          0         12,000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539496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419856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794760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[+ 添加行]   [ ✈ 批量提交 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539496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4169664"/>
            <a:ext cx="517550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市场费用=营销推广 · 其他=行政开销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43000"/>
            <a:ext cx="5486400" cy="34747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1887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费用历史 — 按月查看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6208" y="1545336"/>
            <a:ext cx="526694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筛选: [2025-04 ▼]   [按月 ▼]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865376"/>
            <a:ext cx="548640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1920240"/>
            <a:ext cx="526694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2295144"/>
            <a:ext cx="526694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项目A    差旅费    ¥ 12,500   04-10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2615184"/>
            <a:ext cx="548640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208" y="2670048"/>
            <a:ext cx="526694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项目B    营销费    ¥  8,000   04-12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3044952"/>
            <a:ext cx="526694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华南交付  市场费   ¥ 15,000   04-15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3364992"/>
            <a:ext cx="548640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3419856"/>
            <a:ext cx="526694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华南售前  其他费   ¥  5,000   04-15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6208" y="3794760"/>
            <a:ext cx="526694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4114800"/>
            <a:ext cx="548640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4169664"/>
            <a:ext cx="526694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本月费用合计: ¥ 40,500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01168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2011680"/>
            <a:ext cx="137160" cy="2560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Resources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工时填报 · 假期审批 · 年假额度管理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5943600" cy="3657600"/>
          </a:xfrm>
          <a:prstGeom prst="rect">
            <a:avLst/>
          </a:prstGeom>
          <a:solidFill>
            <a:srgbClr val="B45309">
              <a:alpha val="8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9456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填报自己的工时（同员工功能）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审批员工的年假和其他假期申请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管理全员年假额度（增加/减少）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查看假期审批历史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· 假期审批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" cy="4114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点击"假期审批"标签查看待审批列表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3152" cy="274320"/>
          </a:xfrm>
          <a:prstGeom prst="rect">
            <a:avLst/>
          </a:prstGeom>
          <a:solidFill>
            <a:srgbClr val="B45309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240280"/>
            <a:ext cx="411480" cy="4114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查看员工姓名、假期类型、申请日期和天数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651760"/>
            <a:ext cx="73152" cy="274320"/>
          </a:xfrm>
          <a:prstGeom prst="rect">
            <a:avLst/>
          </a:prstGeom>
          <a:solidFill>
            <a:srgbClr val="B45309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" cy="4114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点击"✓ 批准"或"✗ 驳回"（需填驳回原因）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3337560"/>
            <a:ext cx="73152" cy="274320"/>
          </a:xfrm>
          <a:prstGeom prst="rect">
            <a:avLst/>
          </a:prstGeom>
          <a:solidFill>
            <a:srgbClr val="B45309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611880"/>
            <a:ext cx="411480" cy="4114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630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在"审批历史"可查看所有已处理记录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14300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1143000"/>
            <a:ext cx="576072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1887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假期审批 — 待审批列表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888" y="154533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姓名   类型    申请日期范围          天数   操作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186537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961888" y="192024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61888" y="229514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张三   年假   04-21 ~ 04-25          5天   [✓] [✗]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52160" y="2615184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5961888" y="267004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李四   其他   04-18                  1天   [✓] [✗]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61888" y="304495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王五   年假   04-28 ~ 04-30          3天   [✓] [✗]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0" y="3364992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961888" y="341985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61888" y="379476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共 3 条待审批假期申请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· 年假额度管理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247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124712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年假额度管理 — 员工年假配额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员工姓名   部门           初始天数   已用天数   剩余天数    操作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2024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295144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张三      华南交付部      15天        5天        10天     [调整] [重置]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670048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李四      华南交付部      10天        3天         7天     [调整] [重置]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王五      华南研发部      15天       10天         5天     [调整] [重置]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112471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419856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赵六      华南售前部      10天        0天        10天     [调整] [重置]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794760"/>
            <a:ext cx="110276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[批量初始化年假]          搜索员工: [______________]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914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智能助手专题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6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AI-Powered Data Assistant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让数据问答像聊天一样简单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智能助手 — 三种助手类型总览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749040" cy="55778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3749040" cy="2743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智能帮助助手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3566160" cy="274320"/>
          </a:xfrm>
          <a:prstGeom prst="rect">
            <a:avLst/>
          </a:prstGeom>
          <a:solidFill>
            <a:srgbClr val="4C1D95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7556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所有角色均可使用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入口：页面右下角 ✨ 悬浮按钮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回答系统使用问题，如"工时怎么填报？""忘记密码怎么办？"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内置工时周历数据，精确回答"W16是几号到几号"。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支持语音输入。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005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示例问题：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4297680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4C1D95">
              <a:alpha val="8000"/>
            </a:srgbClr>
          </a:solidFill>
          <a:ln w="12700">
            <a:solidFill>
              <a:srgbClr val="4C1D95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159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工时怎么填报？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4C1D95">
              <a:alpha val="8000"/>
            </a:srgbClr>
          </a:solidFill>
          <a:ln w="12700">
            <a:solidFill>
              <a:srgbClr val="4C1D95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W16是几号到几号？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992624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4C1D95">
              <a:alpha val="8000"/>
            </a:srgbClr>
          </a:solidFill>
          <a:ln w="12700">
            <a:solidFill>
              <a:srgbClr val="4C1D95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0109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年假怎么申请？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5340096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4C1D95">
              <a:alpha val="8000"/>
            </a:srgbClr>
          </a:solidFill>
          <a:ln w="12700">
            <a:solidFill>
              <a:srgbClr val="4C1D95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3583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忘记密码怎么办？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5687568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4C1D95">
              <a:alpha val="8000"/>
            </a:srgbClr>
          </a:solidFill>
          <a:ln w="12700">
            <a:solidFill>
              <a:srgbClr val="4C1D95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7058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如何查看审批状态？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1005840"/>
            <a:ext cx="3749040" cy="55778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100584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1371600"/>
            <a:ext cx="3749040" cy="2743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PMO智能问数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43400" y="1737360"/>
            <a:ext cx="3566160" cy="274320"/>
          </a:xfrm>
          <a:prstGeom prst="rect">
            <a:avLst/>
          </a:prstGeom>
          <a:solidFill>
            <a:srgbClr val="0369A1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17556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PMO、总经办、管理员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入口：左侧菜单 "智能问数"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0" y="2423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基于全公司数据进行自然语言查询，覆盖所有项目、部门、员工、商机，支持多轮对话与数据分析洞察。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0" y="4005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示例问题：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89120" y="4297680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0369A1">
              <a:alpha val="8000"/>
            </a:srgbClr>
          </a:solidFill>
          <a:ln w="12700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3159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哪些项目预算超80%？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0" y="4645152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0369A1">
              <a:alpha val="8000"/>
            </a:srgbClr>
          </a:solidFill>
          <a:ln w="12700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各部门员工分布？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89120" y="4992624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0369A1">
              <a:alpha val="8000"/>
            </a:srgbClr>
          </a:solidFill>
          <a:ln w="12700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50109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工时成本最高的项目？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89120" y="5340096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0369A1">
              <a:alpha val="8000"/>
            </a:srgbClr>
          </a:solidFill>
          <a:ln w="12700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53583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商机3个月没更新？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89120" y="5687568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0369A1">
              <a:alpha val="8000"/>
            </a:srgbClr>
          </a:solidFill>
          <a:ln w="12700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57058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各战区工时成本统计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29600" y="1005840"/>
            <a:ext cx="3749040" cy="55778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20">
                <a:alpha val="7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0" y="100584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0" y="1371600"/>
            <a:ext cx="37490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832104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战区数据助手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321040" y="1737360"/>
            <a:ext cx="3566160" cy="27432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366760" y="17556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战区总监、部门总监、事业部GM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366760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入口：左侧菜单 "智能问数"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66760" y="2423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数据范围严格限定在本人管辖战区/事业部，保证数据安全。支持查询本战区项目、员工、工时、商机。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366760" y="4005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示例问题：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366760" y="4297680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58200" y="43159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本战区工时成本最高项目？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66760" y="4645152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58200" y="4663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我的员工谁工时最多？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366760" y="4992624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58200" y="50109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哪些商机最近没更新？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366760" y="5340096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58200" y="53583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各项目待审批工时数？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366760" y="5687568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58200" y="57058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W16是几号？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智能帮助助手 — 操作说明（适用所有角色）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" cy="4114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点击页面右下角的 ✨ 悬浮按钮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600200"/>
            <a:ext cx="73152" cy="274320"/>
          </a:xfrm>
          <a:prstGeom prst="rect">
            <a:avLst/>
          </a:prstGeom>
          <a:solidFill>
            <a:srgbClr val="4C1D95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874520"/>
            <a:ext cx="411480" cy="4114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8928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从快捷问题列表直接点击，或输入框手打问题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286000"/>
            <a:ext cx="73152" cy="274320"/>
          </a:xfrm>
          <a:prstGeom prst="rect">
            <a:avLst/>
          </a:prstGeom>
          <a:solidFill>
            <a:srgbClr val="4C1D95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411480" cy="4114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支持语音输入：点击 🎤 麦克风图标说出问题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2971800"/>
            <a:ext cx="73152" cy="274320"/>
          </a:xfrm>
          <a:prstGeom prst="rect">
            <a:avLst/>
          </a:prstGeom>
          <a:solidFill>
            <a:srgbClr val="4C1D95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246120"/>
            <a:ext cx="411480" cy="4114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2644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自动读取工时周历，精确回答"W16是几号"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" y="3657600"/>
            <a:ext cx="73152" cy="274320"/>
          </a:xfrm>
          <a:prstGeom prst="rect">
            <a:avLst/>
          </a:prstGeom>
          <a:solidFill>
            <a:srgbClr val="4C1D95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931920"/>
            <a:ext cx="411480" cy="4114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多轮对话，可接着追问"W17呢？""那个月有几周？"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1143000"/>
            <a:ext cx="5760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1143000"/>
            <a:ext cx="5760720" cy="347472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1887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智能帮助助手 — 对话界面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61888" y="154533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✨ 数洋智慧综合管理平台 智能帮助助手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186537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5961888" y="192024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61888" y="229514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常用问题：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52160" y="2615184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961888" y="267004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[工时怎么填报？]  [W16是几号？]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61888" y="304495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[年假怎么申请？]  [忘记密码？]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3364992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5961888" y="341985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61888" y="379476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👤 用户：W16是几号到几号？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52160" y="4114800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5961888" y="416966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61888" y="454456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🤖 助手：W16 对应 2025年4月14日（周一）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52160" y="4864608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5961888" y="491947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至 2025年4月18日（周五），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61888" y="529437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共 5 个工作日，第 3 工时月。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561441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5961888" y="566928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61888" y="604418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[🎤]  输入问题...                 [发送]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智能问数助手 — 操作说明（PMO / 总监 / 事业部GM）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点击左侧菜单"智能问数"进入专属数据助手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60020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8745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8928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点击常用问题快捷按钮，或在输入框输入问题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28600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实时读取系统数据并给出精确答案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297180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2461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2644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可追问细节，如"具体是哪些员工？""总成本是多少？"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" y="3657600"/>
            <a:ext cx="73152" cy="2743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9319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Enter 发送消息，Shift+Enter 换行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1143000"/>
            <a:ext cx="5760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1143000"/>
            <a:ext cx="576072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1887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  智能问数 — 对话示例（PMO视角）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61888" y="154533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📊 PMO 数据助手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186537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5961888" y="192024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常用问题：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61888" y="229514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[哪些项目超80%？] [各部门员工分布？]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52160" y="2615184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961888" y="267004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[工时成本最高项目] [商机未更新清单]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61888" y="304495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3364992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5961888" y="341985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👤 哪些项目预算使用率超过80%？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61888" y="379476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52160" y="4114800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5961888" y="416966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🤖 当前有3个项目使用率超80%：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61888" y="4544568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• 项目C-售前: 92% (¥92,000/¥100,000)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52160" y="4864608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5961888" y="4919472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• 项目B-交付: 82% (¥163,000/¥200,000)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61888" y="5294376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• 项目D-研发: 85% (¥85,000/¥100,000)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5614416"/>
            <a:ext cx="5760720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5961888" y="5669280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61888" y="6044184"/>
            <a:ext cx="5541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输入问题...                       [发送]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智能助手 — 使用要点与注意事项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2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数据权限隔离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600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战区数据助手只能查本人管辖范围内的数据，PMO助手可查全公司。系统自动控制边界，绝不泄露越权信息。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0515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2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39712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工时周历精准回答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39712" y="1600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助手内置工时周历数据，可精确回答"W16是哪天到哪天""第3工时月包含哪些周"，无需手动查对照表。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15768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2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78992" y="2852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326440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支持连续追问：先问"哪些项目超预算"，再追问"这些项目PM分别是谁"，助手保持完整上下文理解。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715768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2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39712" y="2852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语音输入（帮助助手）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39712" y="326440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帮助助手支持语音输入，点击麦克风图标说出问题，自动转文字发送，方便手机端快速使用。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379976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2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517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78992" y="4517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4928616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每次提问都实时读取最新数据，确保回答反映系统当前真实状态，不会给出过期或缓存信息。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4379976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2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4517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39712" y="4517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使用权限要求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9712" y="4928616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智能问数功能需登录系统后才可使用。帮助助手不限角色；智能问数仅对 PMO / 总监 / 事业部GM 开放。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41148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感谢使用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数洋智慧综合管理平台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如有任何问题，请联系系统管理员（admin1）或使用智能帮助助手获取支持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4206240"/>
            <a:ext cx="33832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DataOcean · 数洋科技 ·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数洋科技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数洋智慧综合管理平台 使用手册</dc:title>
  <dc:subject>PptxGenJS Presentation</dc:subject>
  <dc:creator>DataOcean</dc:creator>
  <cp:lastModifiedBy>DataOcean</cp:lastModifiedBy>
  <cp:revision>1</cp:revision>
  <dcterms:created xsi:type="dcterms:W3CDTF">2026-04-07T03:46:30Z</dcterms:created>
  <dcterms:modified xsi:type="dcterms:W3CDTF">2026-04-07T03:46:30Z</dcterms:modified>
</cp:coreProperties>
</file>